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980B9"/>
                </a:solidFill>
              </a:defRPr>
            </a:pPr>
            <a:r>
              <a:t>NOT DEFTERİ UYGULAMASI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Geliştirme &amp; Mimari Değişiklikler Sunumu</a:t>
            </a:r>
          </a:p>
          <a:p>
            <a:pPr>
              <a:spcBef>
                <a:spcPts val="1500"/>
              </a:spcBef>
              <a:defRPr sz="1800">
                <a:solidFill>
                  <a:srgbClr val="B4C8DC"/>
                </a:solidFill>
              </a:defRPr>
            </a:pPr>
            <a:r>
              <a:t>UML Sınıf Diyagramı • Callback Yapısı • id İle Silme Mekanizması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NOT DEFTERİ UYGULAMASI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Yapılan Yenilikler ve Genel Bakış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EBF0F5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182B49"/>
                </a:solidFill>
              </a:defRPr>
            </a:pPr>
            <a:r>
              <a:t>🗑️ Satır Başına Sil Düğmesi</a:t>
            </a:r>
          </a:p>
          <a:p>
            <a:pPr>
              <a:spcBef>
                <a:spcPts val="800"/>
              </a:spcBef>
              <a:defRPr sz="1300">
                <a:solidFill>
                  <a:srgbClr val="282828"/>
                </a:solidFill>
              </a:defRPr>
            </a:pPr>
            <a:r>
              <a:t>Her not satırına 'Sil' butonu eklendi. Tıklama tüm satırdan bağımsız buton seviyesinde yakalanır.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EBF0F5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182B49"/>
                </a:solidFill>
              </a:defRPr>
            </a:pPr>
            <a:r>
              <a:t>🔑 Benzersiz id İle Silme</a:t>
            </a:r>
          </a:p>
          <a:p>
            <a:pPr>
              <a:spcBef>
                <a:spcPts val="800"/>
              </a:spcBef>
              <a:defRPr sz="1300">
                <a:solidFill>
                  <a:srgbClr val="282828"/>
                </a:solidFill>
              </a:defRPr>
            </a:pPr>
            <a:r>
              <a:t>Notlar id ve text alanlarına sahip Note modeline dönüştürüldü. Silme işlemi id üzerinden yapılır.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EBF0F5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182B49"/>
                </a:solidFill>
              </a:defRPr>
            </a:pPr>
            <a:r>
              <a:t>🔄 Callback Mekanizması</a:t>
            </a:r>
          </a:p>
          <a:p>
            <a:pPr>
              <a:spcBef>
                <a:spcPts val="800"/>
              </a:spcBef>
              <a:defRPr sz="1300">
                <a:solidFill>
                  <a:srgbClr val="282828"/>
                </a:solidFill>
              </a:defRPr>
            </a:pPr>
            <a:r>
              <a:t>NoteAdapter'dan MainActivity'ye 'onDeleteClick: (id: Int) -&gt; Unit' callback fonksiyonu ile iletilir.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114800"/>
            <a:ext cx="3383280" cy="2194560"/>
          </a:xfrm>
          <a:prstGeom prst="roundRect">
            <a:avLst/>
          </a:prstGeom>
          <a:solidFill>
            <a:srgbClr val="EBF0F5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600" b="1">
                <a:solidFill>
                  <a:srgbClr val="182B49"/>
                </a:solidFill>
              </a:defRPr>
            </a:pPr>
            <a:r>
              <a:t>📱 Boş Liste Mesajı</a:t>
            </a:r>
          </a:p>
          <a:p>
            <a:pPr>
              <a:spcBef>
                <a:spcPts val="800"/>
              </a:spcBef>
              <a:defRPr sz="1300">
                <a:solidFill>
                  <a:srgbClr val="282828"/>
                </a:solidFill>
              </a:defRPr>
            </a:pPr>
            <a:r>
              <a:t>Son not silindiğinde 'Boş Liste' uyarısı görünür. Yeni not eklendiğinde liste tekrar açılır.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NOT DEFTERİ UYGULAMASI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rPr dirty="0" err="1"/>
              <a:t>Uygulama</a:t>
            </a:r>
            <a:r>
              <a:rPr dirty="0"/>
              <a:t> </a:t>
            </a:r>
            <a:r>
              <a:rPr dirty="0" err="1"/>
              <a:t>Ekran</a:t>
            </a:r>
            <a:r>
              <a:rPr dirty="0"/>
              <a:t> </a:t>
            </a:r>
            <a:r>
              <a:rPr dirty="0" err="1"/>
              <a:t>Görüntüleri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Arayüz</a:t>
            </a:r>
            <a:r>
              <a:rPr dirty="0"/>
              <a:t> </a:t>
            </a:r>
            <a:r>
              <a:rPr dirty="0" err="1"/>
              <a:t>Analizi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ctiv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237744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B49"/>
                </a:solidFill>
              </a:defRPr>
            </a:pPr>
            <a:r>
              <a:t>Görünüm 1: Aktif Not Listesi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4688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mpty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417320"/>
            <a:ext cx="2377440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74720" y="64008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B49"/>
                </a:solidFill>
              </a:defRPr>
            </a:pPr>
            <a:r>
              <a:t>Görünüm 2: Boş Liste Durumu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42255" cy="5029200"/>
          </a:xfrm>
          <a:prstGeom prst="roundRect">
            <a:avLst/>
          </a:prstGeom>
          <a:solidFill>
            <a:srgbClr val="EBF0F5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600" b="1">
                <a:solidFill>
                  <a:srgbClr val="182B49"/>
                </a:solidFill>
              </a:defRPr>
            </a:pPr>
            <a:r>
              <a:rPr dirty="0"/>
              <a:t>🔍 </a:t>
            </a:r>
            <a:r>
              <a:rPr dirty="0" err="1"/>
              <a:t>Ekran</a:t>
            </a:r>
            <a:r>
              <a:rPr dirty="0"/>
              <a:t> </a:t>
            </a:r>
            <a:r>
              <a:rPr dirty="0" err="1"/>
              <a:t>Bileşenleri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Çalışma</a:t>
            </a:r>
            <a:r>
              <a:rPr dirty="0"/>
              <a:t> </a:t>
            </a:r>
            <a:r>
              <a:rPr dirty="0" err="1"/>
              <a:t>Mantığı</a:t>
            </a:r>
            <a:endParaRPr dirty="0"/>
          </a:p>
          <a:p>
            <a:pPr>
              <a:spcBef>
                <a:spcPts val="800"/>
              </a:spcBef>
              <a:defRPr sz="1200" b="1">
                <a:solidFill>
                  <a:srgbClr val="2980B9"/>
                </a:solidFill>
              </a:defRPr>
            </a:pPr>
            <a:r>
              <a:rPr dirty="0"/>
              <a:t>✏️ Not </a:t>
            </a:r>
            <a:r>
              <a:rPr dirty="0" err="1"/>
              <a:t>Giriş</a:t>
            </a:r>
            <a:r>
              <a:rPr dirty="0"/>
              <a:t> </a:t>
            </a:r>
            <a:r>
              <a:rPr dirty="0" err="1"/>
              <a:t>Alanı</a:t>
            </a:r>
            <a:r>
              <a:rPr dirty="0"/>
              <a:t> (</a:t>
            </a:r>
            <a:r>
              <a:rPr dirty="0" err="1"/>
              <a:t>EditText</a:t>
            </a:r>
            <a:r>
              <a:rPr dirty="0"/>
              <a:t> &amp; Button):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</a:defRPr>
            </a:pPr>
            <a:r>
              <a:rPr dirty="0" err="1"/>
              <a:t>Kullanıcı</a:t>
            </a:r>
            <a:r>
              <a:rPr dirty="0"/>
              <a:t> </a:t>
            </a:r>
            <a:r>
              <a:rPr dirty="0" err="1"/>
              <a:t>üst</a:t>
            </a:r>
            <a:r>
              <a:rPr dirty="0"/>
              <a:t> </a:t>
            </a:r>
            <a:r>
              <a:rPr dirty="0" err="1"/>
              <a:t>kısımdaki</a:t>
            </a:r>
            <a:r>
              <a:rPr dirty="0"/>
              <a:t> </a:t>
            </a:r>
            <a:r>
              <a:rPr dirty="0" err="1"/>
              <a:t>metin</a:t>
            </a:r>
            <a:r>
              <a:rPr dirty="0"/>
              <a:t> </a:t>
            </a:r>
            <a:r>
              <a:rPr dirty="0" err="1"/>
              <a:t>kutusuna</a:t>
            </a:r>
            <a:r>
              <a:rPr dirty="0"/>
              <a:t> </a:t>
            </a:r>
            <a:r>
              <a:rPr dirty="0" err="1"/>
              <a:t>notunu</a:t>
            </a:r>
            <a:r>
              <a:rPr dirty="0"/>
              <a:t> </a:t>
            </a:r>
            <a:r>
              <a:rPr dirty="0" err="1"/>
              <a:t>yazar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'Ekle' </a:t>
            </a:r>
            <a:r>
              <a:rPr dirty="0" err="1"/>
              <a:t>butonuna</a:t>
            </a:r>
            <a:r>
              <a:rPr dirty="0"/>
              <a:t> </a:t>
            </a:r>
            <a:r>
              <a:rPr dirty="0" err="1"/>
              <a:t>basar</a:t>
            </a:r>
            <a:r>
              <a:rPr dirty="0"/>
              <a:t>. Her yeni not </a:t>
            </a:r>
            <a:r>
              <a:rPr dirty="0" err="1"/>
              <a:t>otomatik</a:t>
            </a:r>
            <a:r>
              <a:rPr dirty="0"/>
              <a:t> </a:t>
            </a:r>
            <a:r>
              <a:rPr dirty="0" err="1"/>
              <a:t>artan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'id' </a:t>
            </a:r>
            <a:r>
              <a:rPr dirty="0" err="1"/>
              <a:t>kazanarak</a:t>
            </a:r>
            <a:r>
              <a:rPr dirty="0"/>
              <a:t> '</a:t>
            </a:r>
            <a:r>
              <a:rPr dirty="0" err="1"/>
              <a:t>noteList'e</a:t>
            </a:r>
            <a:r>
              <a:rPr dirty="0"/>
              <a:t> </a:t>
            </a:r>
            <a:r>
              <a:rPr dirty="0" err="1"/>
              <a:t>eklenir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200" b="1">
                <a:solidFill>
                  <a:srgbClr val="2980B9"/>
                </a:solidFill>
              </a:defRPr>
            </a:pPr>
            <a:r>
              <a:rPr dirty="0"/>
              <a:t>📌 Her </a:t>
            </a:r>
            <a:r>
              <a:rPr dirty="0" err="1"/>
              <a:t>Satırda</a:t>
            </a:r>
            <a:r>
              <a:rPr dirty="0"/>
              <a:t> Özel 'Sil' </a:t>
            </a:r>
            <a:r>
              <a:rPr dirty="0" err="1"/>
              <a:t>Butonu</a:t>
            </a:r>
            <a:r>
              <a:rPr dirty="0"/>
              <a:t>: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</a:defRPr>
            </a:pPr>
            <a:r>
              <a:rPr dirty="0" err="1"/>
              <a:t>RecyclerView</a:t>
            </a:r>
            <a:r>
              <a:rPr dirty="0"/>
              <a:t> </a:t>
            </a:r>
            <a:r>
              <a:rPr dirty="0" err="1"/>
              <a:t>içerisindeki</a:t>
            </a:r>
            <a:r>
              <a:rPr dirty="0"/>
              <a:t> her </a:t>
            </a:r>
            <a:r>
              <a:rPr dirty="0" err="1"/>
              <a:t>bir</a:t>
            </a:r>
            <a:r>
              <a:rPr dirty="0"/>
              <a:t> not </a:t>
            </a:r>
            <a:r>
              <a:rPr dirty="0" err="1"/>
              <a:t>satırına</a:t>
            </a:r>
            <a:r>
              <a:rPr dirty="0"/>
              <a:t> </a:t>
            </a:r>
            <a:r>
              <a:rPr dirty="0" err="1"/>
              <a:t>bağımsız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'Sil' </a:t>
            </a:r>
            <a:r>
              <a:rPr dirty="0" err="1"/>
              <a:t>butonu</a:t>
            </a:r>
            <a:r>
              <a:rPr dirty="0"/>
              <a:t> </a:t>
            </a:r>
            <a:r>
              <a:rPr dirty="0" err="1"/>
              <a:t>yerleştirilmiştir</a:t>
            </a:r>
            <a:r>
              <a:rPr dirty="0"/>
              <a:t>. </a:t>
            </a:r>
            <a:r>
              <a:rPr dirty="0" err="1"/>
              <a:t>Tıklama</a:t>
            </a:r>
            <a:r>
              <a:rPr dirty="0"/>
              <a:t> </a:t>
            </a:r>
            <a:r>
              <a:rPr dirty="0" err="1"/>
              <a:t>tüm</a:t>
            </a:r>
            <a:r>
              <a:rPr dirty="0"/>
              <a:t> </a:t>
            </a:r>
            <a:r>
              <a:rPr dirty="0" err="1"/>
              <a:t>satıra</a:t>
            </a:r>
            <a:r>
              <a:rPr dirty="0"/>
              <a:t> </a:t>
            </a:r>
            <a:r>
              <a:rPr dirty="0" err="1"/>
              <a:t>değil</a:t>
            </a:r>
            <a:r>
              <a:rPr dirty="0"/>
              <a:t>, </a:t>
            </a:r>
            <a:r>
              <a:rPr dirty="0" err="1"/>
              <a:t>yalnızca</a:t>
            </a:r>
            <a:r>
              <a:rPr dirty="0"/>
              <a:t> </a:t>
            </a:r>
            <a:r>
              <a:rPr dirty="0" err="1"/>
              <a:t>bu</a:t>
            </a:r>
            <a:r>
              <a:rPr dirty="0"/>
              <a:t> </a:t>
            </a:r>
            <a:r>
              <a:rPr dirty="0" err="1"/>
              <a:t>butona</a:t>
            </a:r>
            <a:r>
              <a:rPr dirty="0"/>
              <a:t> </a:t>
            </a:r>
            <a:r>
              <a:rPr dirty="0" err="1"/>
              <a:t>bağlanmıştır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200" b="1">
                <a:solidFill>
                  <a:srgbClr val="2980B9"/>
                </a:solidFill>
              </a:defRPr>
            </a:pPr>
            <a:r>
              <a:rPr dirty="0"/>
              <a:t>🔄 Callback İle Doğru </a:t>
            </a:r>
            <a:r>
              <a:rPr dirty="0" err="1"/>
              <a:t>İletişim</a:t>
            </a:r>
            <a:r>
              <a:rPr dirty="0"/>
              <a:t>: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</a:defRPr>
            </a:pPr>
            <a:r>
              <a:rPr dirty="0"/>
              <a:t>'Sil' </a:t>
            </a:r>
            <a:r>
              <a:rPr dirty="0" err="1"/>
              <a:t>butonuna</a:t>
            </a:r>
            <a:r>
              <a:rPr dirty="0"/>
              <a:t> </a:t>
            </a:r>
            <a:r>
              <a:rPr dirty="0" err="1"/>
              <a:t>basıldığında</a:t>
            </a:r>
            <a:r>
              <a:rPr dirty="0"/>
              <a:t> '</a:t>
            </a:r>
            <a:r>
              <a:rPr dirty="0" err="1"/>
              <a:t>NoteAdapter</a:t>
            </a:r>
            <a:r>
              <a:rPr dirty="0"/>
              <a:t>' </a:t>
            </a:r>
            <a:r>
              <a:rPr dirty="0" err="1"/>
              <a:t>üzerindeki</a:t>
            </a:r>
            <a:r>
              <a:rPr dirty="0"/>
              <a:t> Callback </a:t>
            </a:r>
            <a:r>
              <a:rPr dirty="0" err="1"/>
              <a:t>tetiklenir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yalnızca</a:t>
            </a:r>
            <a:r>
              <a:rPr dirty="0"/>
              <a:t> </a:t>
            </a:r>
            <a:r>
              <a:rPr dirty="0" err="1"/>
              <a:t>tıklanan</a:t>
            </a:r>
            <a:r>
              <a:rPr dirty="0"/>
              <a:t> </a:t>
            </a:r>
            <a:r>
              <a:rPr dirty="0" err="1"/>
              <a:t>notun</a:t>
            </a:r>
            <a:r>
              <a:rPr dirty="0"/>
              <a:t> '</a:t>
            </a:r>
            <a:r>
              <a:rPr dirty="0" err="1"/>
              <a:t>id'si</a:t>
            </a:r>
            <a:r>
              <a:rPr dirty="0"/>
              <a:t> </a:t>
            </a:r>
            <a:r>
              <a:rPr dirty="0" err="1"/>
              <a:t>MainActivity'ye</a:t>
            </a:r>
            <a:r>
              <a:rPr dirty="0"/>
              <a:t> </a:t>
            </a:r>
            <a:r>
              <a:rPr dirty="0" err="1"/>
              <a:t>iletilir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200" b="1">
                <a:solidFill>
                  <a:srgbClr val="2980B9"/>
                </a:solidFill>
              </a:defRPr>
            </a:pPr>
            <a:r>
              <a:rPr dirty="0"/>
              <a:t>🧹 Kesin </a:t>
            </a:r>
            <a:r>
              <a:rPr dirty="0" err="1"/>
              <a:t>ve</a:t>
            </a:r>
            <a:r>
              <a:rPr dirty="0"/>
              <a:t> Doğru Silme (</a:t>
            </a:r>
            <a:r>
              <a:rPr dirty="0" err="1"/>
              <a:t>removeNoteById</a:t>
            </a:r>
            <a:r>
              <a:rPr dirty="0"/>
              <a:t>):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</a:defRPr>
            </a:pPr>
            <a:r>
              <a:rPr dirty="0"/>
              <a:t>Silme </a:t>
            </a:r>
            <a:r>
              <a:rPr dirty="0" err="1"/>
              <a:t>işlemi</a:t>
            </a:r>
            <a:r>
              <a:rPr dirty="0"/>
              <a:t> </a:t>
            </a:r>
            <a:r>
              <a:rPr dirty="0" err="1"/>
              <a:t>metne</a:t>
            </a:r>
            <a:r>
              <a:rPr dirty="0"/>
              <a:t> </a:t>
            </a:r>
            <a:r>
              <a:rPr dirty="0" err="1"/>
              <a:t>veya</a:t>
            </a:r>
            <a:r>
              <a:rPr dirty="0"/>
              <a:t> </a:t>
            </a:r>
            <a:r>
              <a:rPr dirty="0" err="1"/>
              <a:t>pozisyona</a:t>
            </a:r>
            <a:r>
              <a:rPr dirty="0"/>
              <a:t> </a:t>
            </a:r>
            <a:r>
              <a:rPr dirty="0" err="1"/>
              <a:t>göre</a:t>
            </a:r>
            <a:r>
              <a:rPr dirty="0"/>
              <a:t> </a:t>
            </a:r>
            <a:r>
              <a:rPr dirty="0" err="1"/>
              <a:t>değil</a:t>
            </a:r>
            <a:r>
              <a:rPr dirty="0"/>
              <a:t>, </a:t>
            </a:r>
            <a:r>
              <a:rPr dirty="0" err="1"/>
              <a:t>benzersiz</a:t>
            </a:r>
            <a:r>
              <a:rPr dirty="0"/>
              <a:t> 'id'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kullanılarak</a:t>
            </a:r>
            <a:r>
              <a:rPr dirty="0"/>
              <a:t> </a:t>
            </a:r>
            <a:r>
              <a:rPr dirty="0" err="1"/>
              <a:t>yapılır</a:t>
            </a:r>
            <a:r>
              <a:rPr dirty="0"/>
              <a:t>. </a:t>
            </a:r>
            <a:r>
              <a:rPr dirty="0" err="1"/>
              <a:t>Diğer</a:t>
            </a:r>
            <a:r>
              <a:rPr dirty="0"/>
              <a:t> </a:t>
            </a:r>
            <a:r>
              <a:rPr dirty="0" err="1"/>
              <a:t>notlar</a:t>
            </a:r>
            <a:r>
              <a:rPr dirty="0"/>
              <a:t> </a:t>
            </a:r>
            <a:r>
              <a:rPr dirty="0" err="1"/>
              <a:t>etkilenmez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200" b="1">
                <a:solidFill>
                  <a:srgbClr val="2980B9"/>
                </a:solidFill>
              </a:defRPr>
            </a:pPr>
            <a:r>
              <a:rPr dirty="0"/>
              <a:t>📱 </a:t>
            </a:r>
            <a:r>
              <a:rPr dirty="0" err="1"/>
              <a:t>Dinamik</a:t>
            </a:r>
            <a:r>
              <a:rPr dirty="0"/>
              <a:t> </a:t>
            </a:r>
            <a:r>
              <a:rPr dirty="0" err="1"/>
              <a:t>Boş</a:t>
            </a:r>
            <a:r>
              <a:rPr dirty="0"/>
              <a:t> </a:t>
            </a:r>
            <a:r>
              <a:rPr dirty="0" err="1"/>
              <a:t>Liste</a:t>
            </a:r>
            <a:r>
              <a:rPr dirty="0"/>
              <a:t> </a:t>
            </a:r>
            <a:r>
              <a:rPr dirty="0" err="1"/>
              <a:t>Mesajı</a:t>
            </a:r>
            <a:r>
              <a:rPr dirty="0"/>
              <a:t> (</a:t>
            </a:r>
            <a:r>
              <a:rPr dirty="0" err="1"/>
              <a:t>updateEmptyListState</a:t>
            </a:r>
            <a:r>
              <a:rPr dirty="0"/>
              <a:t>):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</a:defRPr>
            </a:pPr>
            <a:r>
              <a:rPr dirty="0"/>
              <a:t>Son not </a:t>
            </a:r>
            <a:r>
              <a:rPr dirty="0" err="1"/>
              <a:t>silindiğinde</a:t>
            </a:r>
            <a:r>
              <a:rPr dirty="0"/>
              <a:t> '</a:t>
            </a:r>
            <a:r>
              <a:rPr dirty="0" err="1"/>
              <a:t>textViewEmptyList</a:t>
            </a:r>
            <a:r>
              <a:rPr dirty="0"/>
              <a:t>' </a:t>
            </a:r>
            <a:r>
              <a:rPr dirty="0" err="1"/>
              <a:t>görünür</a:t>
            </a:r>
            <a:r>
              <a:rPr dirty="0"/>
              <a:t> </a:t>
            </a:r>
            <a:r>
              <a:rPr dirty="0" err="1"/>
              <a:t>olur</a:t>
            </a:r>
            <a:r>
              <a:rPr dirty="0"/>
              <a:t> ('</a:t>
            </a:r>
            <a:r>
              <a:rPr dirty="0" err="1"/>
              <a:t>Boş</a:t>
            </a:r>
            <a:r>
              <a:rPr dirty="0"/>
              <a:t> </a:t>
            </a:r>
            <a:r>
              <a:rPr dirty="0" err="1"/>
              <a:t>Liste</a:t>
            </a:r>
            <a:r>
              <a:rPr dirty="0"/>
              <a:t>'). Yeni not </a:t>
            </a:r>
            <a:r>
              <a:rPr dirty="0" err="1"/>
              <a:t>eklendiğinde</a:t>
            </a:r>
            <a:r>
              <a:rPr dirty="0"/>
              <a:t> </a:t>
            </a:r>
            <a:r>
              <a:rPr dirty="0" err="1"/>
              <a:t>mesaj</a:t>
            </a:r>
            <a:r>
              <a:rPr dirty="0"/>
              <a:t> </a:t>
            </a:r>
            <a:r>
              <a:rPr dirty="0" err="1"/>
              <a:t>gizlenip</a:t>
            </a:r>
            <a:r>
              <a:rPr dirty="0"/>
              <a:t> </a:t>
            </a:r>
            <a:r>
              <a:rPr dirty="0" err="1"/>
              <a:t>liste</a:t>
            </a:r>
            <a:r>
              <a:rPr dirty="0"/>
              <a:t> </a:t>
            </a:r>
            <a:r>
              <a:rPr dirty="0" err="1"/>
              <a:t>tekrar</a:t>
            </a:r>
            <a:r>
              <a:rPr dirty="0"/>
              <a:t> </a:t>
            </a:r>
            <a:r>
              <a:rPr dirty="0" err="1"/>
              <a:t>görüntülenir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NOT DEFTERİ UYGULAMASI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UML Sınıf Diyagramı (Class Diagram)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926080" cy="1463040"/>
          </a:xfrm>
          <a:prstGeom prst="roundRect">
            <a:avLst/>
          </a:prstGeom>
          <a:solidFill>
            <a:srgbClr val="EBF0F5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400" b="1">
                <a:solidFill>
                  <a:srgbClr val="182B49"/>
                </a:solidFill>
              </a:defRPr>
            </a:pPr>
            <a:r>
              <a:rPr dirty="0"/>
              <a:t>«data class» Note</a:t>
            </a:r>
          </a:p>
          <a:p>
            <a:pPr>
              <a:spcBef>
                <a:spcPts val="600"/>
              </a:spcBef>
              <a:defRPr sz="1200"/>
            </a:pPr>
            <a:r>
              <a:rPr dirty="0">
                <a:solidFill>
                  <a:schemeClr val="tx1"/>
                </a:solidFill>
              </a:rPr>
              <a:t>+ id: Int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+ text: String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645920"/>
            <a:ext cx="3474720" cy="1463040"/>
          </a:xfrm>
          <a:prstGeom prst="roundRect">
            <a:avLst/>
          </a:prstGeom>
          <a:solidFill>
            <a:srgbClr val="EBF0F5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400" b="1">
                <a:solidFill>
                  <a:srgbClr val="182B49"/>
                </a:solidFill>
              </a:defRPr>
            </a:pPr>
            <a:r>
              <a:rPr dirty="0"/>
              <a:t>«Utility» </a:t>
            </a:r>
            <a:r>
              <a:rPr dirty="0" err="1"/>
              <a:t>NoteOperationsKt</a:t>
            </a:r>
            <a:endParaRPr dirty="0"/>
          </a:p>
          <a:p>
            <a:pPr>
              <a:spcBef>
                <a:spcPts val="400"/>
              </a:spcBef>
              <a:defRPr sz="1100"/>
            </a:pPr>
            <a:r>
              <a:rPr dirty="0">
                <a:solidFill>
                  <a:schemeClr val="tx1"/>
                </a:solidFill>
              </a:rPr>
              <a:t>+ </a:t>
            </a:r>
            <a:r>
              <a:rPr dirty="0" err="1">
                <a:solidFill>
                  <a:schemeClr val="tx1"/>
                </a:solidFill>
              </a:rPr>
              <a:t>removeNoteById</a:t>
            </a:r>
            <a:r>
              <a:rPr dirty="0">
                <a:solidFill>
                  <a:schemeClr val="tx1"/>
                </a:solidFill>
              </a:rPr>
              <a:t>(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notes: </a:t>
            </a:r>
            <a:r>
              <a:rPr dirty="0" err="1">
                <a:solidFill>
                  <a:schemeClr val="tx1"/>
                </a:solidFill>
              </a:rPr>
              <a:t>MutableList</a:t>
            </a:r>
            <a:r>
              <a:rPr dirty="0">
                <a:solidFill>
                  <a:schemeClr val="tx1"/>
                </a:solidFill>
              </a:rPr>
              <a:t>&lt;Note&gt;,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adapter: Adapter&lt;*&gt;,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id: Int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): Boolean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2926080" cy="2926080"/>
          </a:xfrm>
          <a:prstGeom prst="roundRect">
            <a:avLst/>
          </a:prstGeom>
          <a:solidFill>
            <a:srgbClr val="EBF0F5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400" b="1">
                <a:solidFill>
                  <a:srgbClr val="182B49"/>
                </a:solidFill>
              </a:defRPr>
            </a:pPr>
            <a:r>
              <a:rPr dirty="0" err="1"/>
              <a:t>NoteAdapter</a:t>
            </a:r>
            <a:endParaRPr dirty="0"/>
          </a:p>
          <a:p>
            <a:pPr>
              <a:spcBef>
                <a:spcPts val="600"/>
              </a:spcBef>
              <a:defRPr sz="1100"/>
            </a:pPr>
            <a:r>
              <a:rPr dirty="0">
                <a:solidFill>
                  <a:schemeClr val="tx1"/>
                </a:solidFill>
              </a:rPr>
              <a:t>- notes: List&lt;Note&gt;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- </a:t>
            </a:r>
            <a:r>
              <a:rPr dirty="0" err="1">
                <a:solidFill>
                  <a:schemeClr val="tx1"/>
                </a:solidFill>
              </a:rPr>
              <a:t>onDeleteClick</a:t>
            </a:r>
            <a:r>
              <a:rPr dirty="0">
                <a:solidFill>
                  <a:schemeClr val="tx1"/>
                </a:solidFill>
              </a:rPr>
              <a:t>: (id: Int) -&gt; Unit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+ </a:t>
            </a:r>
            <a:r>
              <a:rPr dirty="0" err="1">
                <a:solidFill>
                  <a:schemeClr val="tx1"/>
                </a:solidFill>
              </a:rPr>
              <a:t>onCreateViewHolder</a:t>
            </a:r>
            <a:r>
              <a:rPr dirty="0">
                <a:solidFill>
                  <a:schemeClr val="tx1"/>
                </a:solidFill>
              </a:rPr>
              <a:t>()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+ </a:t>
            </a:r>
            <a:r>
              <a:rPr dirty="0" err="1">
                <a:solidFill>
                  <a:schemeClr val="tx1"/>
                </a:solidFill>
              </a:rPr>
              <a:t>onBindViewHolder</a:t>
            </a:r>
            <a:r>
              <a:rPr dirty="0">
                <a:solidFill>
                  <a:schemeClr val="tx1"/>
                </a:solidFill>
              </a:rPr>
              <a:t>()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+ </a:t>
            </a:r>
            <a:r>
              <a:rPr dirty="0" err="1">
                <a:solidFill>
                  <a:schemeClr val="tx1"/>
                </a:solidFill>
              </a:rPr>
              <a:t>getItemCount</a:t>
            </a:r>
            <a:r>
              <a:rPr dirty="0">
                <a:solidFill>
                  <a:schemeClr val="tx1"/>
                </a:solidFill>
              </a:rPr>
              <a:t>(): 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3383280"/>
            <a:ext cx="3474720" cy="2926080"/>
          </a:xfrm>
          <a:prstGeom prst="roundRect">
            <a:avLst/>
          </a:prstGeom>
          <a:solidFill>
            <a:srgbClr val="EBF0F5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400" b="1">
                <a:solidFill>
                  <a:srgbClr val="182B49"/>
                </a:solidFill>
              </a:defRPr>
            </a:pPr>
            <a:r>
              <a:rPr dirty="0"/>
              <a:t>MainActivity</a:t>
            </a:r>
          </a:p>
          <a:p>
            <a:pPr>
              <a:spcBef>
                <a:spcPts val="600"/>
              </a:spcBef>
              <a:defRPr sz="1100"/>
            </a:pPr>
            <a:r>
              <a:rPr dirty="0">
                <a:solidFill>
                  <a:schemeClr val="tx1"/>
                </a:solidFill>
              </a:rPr>
              <a:t>- </a:t>
            </a:r>
            <a:r>
              <a:rPr dirty="0" err="1">
                <a:solidFill>
                  <a:schemeClr val="tx1"/>
                </a:solidFill>
              </a:rPr>
              <a:t>noteList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MutableList</a:t>
            </a:r>
            <a:r>
              <a:rPr dirty="0">
                <a:solidFill>
                  <a:schemeClr val="tx1"/>
                </a:solidFill>
              </a:rPr>
              <a:t>&lt;Note&gt;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- </a:t>
            </a:r>
            <a:r>
              <a:rPr dirty="0" err="1">
                <a:solidFill>
                  <a:schemeClr val="tx1"/>
                </a:solidFill>
              </a:rPr>
              <a:t>nextNoteId</a:t>
            </a:r>
            <a:r>
              <a:rPr dirty="0">
                <a:solidFill>
                  <a:schemeClr val="tx1"/>
                </a:solidFill>
              </a:rPr>
              <a:t>: Int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- </a:t>
            </a:r>
            <a:r>
              <a:rPr dirty="0" err="1">
                <a:solidFill>
                  <a:schemeClr val="tx1"/>
                </a:solidFill>
              </a:rPr>
              <a:t>noteAdapter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NoteAdapter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- </a:t>
            </a:r>
            <a:r>
              <a:rPr dirty="0" err="1">
                <a:solidFill>
                  <a:schemeClr val="tx1"/>
                </a:solidFill>
              </a:rPr>
              <a:t>textViewEmptyList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TextView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- </a:t>
            </a:r>
            <a:r>
              <a:rPr dirty="0" err="1">
                <a:solidFill>
                  <a:schemeClr val="tx1"/>
                </a:solidFill>
              </a:rPr>
              <a:t>recyclerViewNotes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RecyclerView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+ </a:t>
            </a:r>
            <a:r>
              <a:rPr dirty="0" err="1">
                <a:solidFill>
                  <a:schemeClr val="tx1"/>
                </a:solidFill>
              </a:rPr>
              <a:t>onCreate</a:t>
            </a:r>
            <a:r>
              <a:rPr dirty="0">
                <a:solidFill>
                  <a:schemeClr val="tx1"/>
                </a:solidFill>
              </a:rPr>
              <a:t>(</a:t>
            </a:r>
            <a:r>
              <a:rPr dirty="0" err="1">
                <a:solidFill>
                  <a:schemeClr val="tx1"/>
                </a:solidFill>
              </a:rPr>
              <a:t>savedInstanceState</a:t>
            </a:r>
            <a:r>
              <a:rPr dirty="0">
                <a:solidFill>
                  <a:schemeClr val="tx1"/>
                </a:solidFill>
              </a:rPr>
              <a:t>)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- </a:t>
            </a:r>
            <a:r>
              <a:rPr dirty="0" err="1">
                <a:solidFill>
                  <a:schemeClr val="tx1"/>
                </a:solidFill>
              </a:rPr>
              <a:t>updateEmptyListState</a:t>
            </a:r>
            <a:r>
              <a:rPr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645920"/>
            <a:ext cx="374903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600" b="1">
                <a:solidFill>
                  <a:srgbClr val="182B49"/>
                </a:solidFill>
              </a:defRPr>
            </a:pPr>
            <a:r>
              <a:t>Sınıf İlişkileri &amp; Mimari</a:t>
            </a:r>
          </a:p>
          <a:p>
            <a:pPr>
              <a:spcBef>
                <a:spcPts val="800"/>
              </a:spcBef>
              <a:defRPr sz="1200" b="1">
                <a:solidFill>
                  <a:srgbClr val="2980B9"/>
                </a:solidFill>
              </a:defRPr>
            </a:pPr>
            <a:r>
              <a:t>• MainActivity ➔ Note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  MainActivity, 'noteList' içerisinde birden fazla 'Note' nesnesi barındırır.</a:t>
            </a:r>
          </a:p>
          <a:p>
            <a:pPr>
              <a:spcBef>
                <a:spcPts val="800"/>
              </a:spcBef>
              <a:defRPr sz="1200" b="1">
                <a:solidFill>
                  <a:srgbClr val="2980B9"/>
                </a:solidFill>
              </a:defRPr>
            </a:pPr>
            <a:r>
              <a:t>• MainActivity ➔ NoteAdapter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  MainActivity adaptörü oluşturur ve 'onDeleteClick' lambda callback fonksiyonunu tanımlar.</a:t>
            </a:r>
          </a:p>
          <a:p>
            <a:pPr>
              <a:spcBef>
                <a:spcPts val="800"/>
              </a:spcBef>
              <a:defRPr sz="1200" b="1">
                <a:solidFill>
                  <a:srgbClr val="2980B9"/>
                </a:solidFill>
              </a:defRPr>
            </a:pPr>
            <a:r>
              <a:t>• NoteAdapter ➔ NoteViewHolder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  NoteAdapter satır görünümlerini ve 'Sil' butonunu oluşturup bağlar.</a:t>
            </a:r>
          </a:p>
          <a:p>
            <a:pPr>
              <a:spcBef>
                <a:spcPts val="800"/>
              </a:spcBef>
              <a:defRPr sz="1200" b="1">
                <a:solidFill>
                  <a:srgbClr val="2980B9"/>
                </a:solidFill>
              </a:defRPr>
            </a:pPr>
            <a:r>
              <a:t>• MainActivity ➔ NoteOperationsKt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  Silme talebi geldiğinde NoteOperations.kt içindeki 'removeNoteById' çağrılır.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NOT DEFTERİ UYGULAMASI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Uygulama Çalışma Akışı (Flowchart)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1796" y="2011680"/>
            <a:ext cx="2468880" cy="3474720"/>
          </a:xfrm>
          <a:prstGeom prst="roundRect">
            <a:avLst/>
          </a:prstGeom>
          <a:solidFill>
            <a:srgbClr val="EBF0F5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1500" b="1">
                <a:solidFill>
                  <a:srgbClr val="182B49"/>
                </a:solidFill>
              </a:defRPr>
            </a:pPr>
            <a:r>
              <a:t>1. Not Ekleme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Kullanıcı metni yazar, 'Ekle'ye basar.</a:t>
            </a:r>
            <a:br/>
            <a:r>
              <a:t>Yeni Note(id++, text) listeye eklenir.</a:t>
            </a:r>
            <a:br/>
            <a:r>
              <a:t>Boş liste uyarısı gizlenir.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754881" y="3476134"/>
            <a:ext cx="228600" cy="36576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79238" y="2011680"/>
            <a:ext cx="2468880" cy="3474720"/>
          </a:xfrm>
          <a:prstGeom prst="roundRect">
            <a:avLst/>
          </a:prstGeom>
          <a:solidFill>
            <a:srgbClr val="EBF0F5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1500" b="1">
                <a:solidFill>
                  <a:srgbClr val="182B49"/>
                </a:solidFill>
              </a:defRPr>
            </a:pPr>
            <a:r>
              <a:t>2. Sil Butonuna Basma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Kullanıcı satırdaki 'Sil' düğmesine basar.</a:t>
            </a:r>
            <a:br/>
            <a:r>
              <a:t>NoteAdapter callback fonksiyonunu çağırır.</a:t>
            </a:r>
            <a:br/>
            <a:r>
              <a:t>Silinecek 'id' MainActivity'ye gider.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473099" y="3476134"/>
            <a:ext cx="228600" cy="365760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26680" y="2011680"/>
            <a:ext cx="2468880" cy="3474720"/>
          </a:xfrm>
          <a:prstGeom prst="roundRect">
            <a:avLst/>
          </a:prstGeom>
          <a:solidFill>
            <a:srgbClr val="EBF0F5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1500" b="1">
                <a:solidFill>
                  <a:srgbClr val="182B49"/>
                </a:solidFill>
              </a:defRPr>
            </a:pPr>
            <a:r>
              <a:rPr lang="tr-TR" dirty="0"/>
              <a:t>3</a:t>
            </a:r>
            <a:r>
              <a:rPr dirty="0"/>
              <a:t>. </a:t>
            </a:r>
            <a:r>
              <a:rPr dirty="0" err="1"/>
              <a:t>Arayüz</a:t>
            </a:r>
            <a:r>
              <a:rPr dirty="0"/>
              <a:t> </a:t>
            </a:r>
            <a:r>
              <a:rPr dirty="0" err="1"/>
              <a:t>Güncelleme</a:t>
            </a:r>
            <a:endParaRPr dirty="0"/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rPr dirty="0" err="1"/>
              <a:t>adapter.notifyDataSetChanged</a:t>
            </a:r>
            <a:r>
              <a:rPr dirty="0"/>
              <a:t>() </a:t>
            </a:r>
            <a:r>
              <a:rPr dirty="0" err="1"/>
              <a:t>çağrılır</a:t>
            </a:r>
            <a:r>
              <a:rPr dirty="0"/>
              <a:t>.</a:t>
            </a:r>
            <a:br>
              <a:rPr dirty="0"/>
            </a:br>
            <a:r>
              <a:rPr dirty="0" err="1"/>
              <a:t>updateEmptyListState</a:t>
            </a:r>
            <a:r>
              <a:rPr dirty="0"/>
              <a:t>() </a:t>
            </a:r>
            <a:r>
              <a:rPr dirty="0" err="1"/>
              <a:t>tetiklenir</a:t>
            </a:r>
            <a:r>
              <a:rPr dirty="0"/>
              <a:t>.</a:t>
            </a:r>
            <a:br>
              <a:rPr dirty="0"/>
            </a:br>
            <a:r>
              <a:rPr dirty="0"/>
              <a:t>Son not </a:t>
            </a:r>
            <a:r>
              <a:rPr dirty="0" err="1"/>
              <a:t>silindiyse</a:t>
            </a:r>
            <a:r>
              <a:rPr dirty="0"/>
              <a:t> </a:t>
            </a:r>
            <a:r>
              <a:rPr dirty="0" err="1"/>
              <a:t>mesaj</a:t>
            </a:r>
            <a:r>
              <a:rPr dirty="0"/>
              <a:t> </a:t>
            </a:r>
            <a:r>
              <a:rPr dirty="0" err="1"/>
              <a:t>gösterilir</a:t>
            </a:r>
            <a:r>
              <a:rPr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✅ Başarılı: Veri katmanı ile arayüz katmanı tam uyum içerisinde çalışır, bellek ve ekran durumu her zaman senkronize kalır.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578</Words>
  <Application>Microsoft Office PowerPoint</Application>
  <PresentationFormat>Geniş ekran</PresentationFormat>
  <Paragraphs>56</Paragraphs>
  <Slides>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efe tas</cp:lastModifiedBy>
  <cp:revision>3</cp:revision>
  <dcterms:created xsi:type="dcterms:W3CDTF">2013-01-27T09:14:16Z</dcterms:created>
  <dcterms:modified xsi:type="dcterms:W3CDTF">2026-10-22T08:50:33Z</dcterms:modified>
  <cp:category/>
</cp:coreProperties>
</file>